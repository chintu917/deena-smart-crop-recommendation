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68" r:id="rId3"/>
    <p:sldId id="269" r:id="rId4"/>
    <p:sldId id="258" r:id="rId5"/>
    <p:sldId id="256" r:id="rId6"/>
    <p:sldId id="260" r:id="rId7"/>
    <p:sldId id="270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75" d="100"/>
          <a:sy n="75" d="100"/>
        </p:scale>
        <p:origin x="1690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52680"/>
            <a:ext cx="4260960" cy="156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" name="Google Shape;11;p2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2" name="Google Shape;12;p2"/>
          <p:cNvSpPr/>
          <p:nvPr/>
        </p:nvSpPr>
        <p:spPr>
          <a:xfrm>
            <a:off x="6775560" y="-92880"/>
            <a:ext cx="25441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1159560"/>
            <a:ext cx="45810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tkinson Hyperlegible Next Medium"/>
                <a:ea typeface="Atkinson Hyperlegible Next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Google Shape;50;p11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3;p13"/>
          <p:cNvSpPr/>
          <p:nvPr/>
        </p:nvSpPr>
        <p:spPr>
          <a:xfrm>
            <a:off x="0" y="1359720"/>
            <a:ext cx="9143640" cy="3802680"/>
          </a:xfrm>
          <a:prstGeom prst="round1Rect">
            <a:avLst>
              <a:gd name="adj" fmla="val 0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6816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324320" y="181044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4324320" y="344016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644160" y="181044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6644160" y="344016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" name="Google Shape;63;p13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2860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" name="Google Shape;67;p14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85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6" name="Google Shape;71;p15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17" name="Google Shape;72;p15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74;p16"/>
          <p:cNvSpPr/>
          <p:nvPr/>
        </p:nvSpPr>
        <p:spPr>
          <a:xfrm>
            <a:off x="6775560" y="-92880"/>
            <a:ext cx="25441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5400000" y="0"/>
            <a:ext cx="37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20000" y="793080"/>
            <a:ext cx="3899160" cy="136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3" name="Google Shape;86;p17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5" name="Google Shape;101;p18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26" name="Google Shape;102;p18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8" name="Google Shape;105;p19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3189600" cy="88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0" name="Google Shape;109;p20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31" name="Google Shape;110;p20"/>
          <p:cNvSpPr/>
          <p:nvPr/>
        </p:nvSpPr>
        <p:spPr>
          <a:xfrm flipH="1">
            <a:off x="-720" y="1359720"/>
            <a:ext cx="9143640" cy="3802680"/>
          </a:xfrm>
          <a:prstGeom prst="round1Rect">
            <a:avLst>
              <a:gd name="adj" fmla="val 0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4880" y="3092760"/>
            <a:ext cx="385560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13160" y="835920"/>
            <a:ext cx="1257840" cy="915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2"/>
                </a:solidFill>
                <a:effectLst/>
                <a:uFillTx/>
                <a:latin typeface="Atkinson Hyperlegible Next Medium"/>
                <a:ea typeface="Atkinson Hyperlegible Next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6;p3"/>
          <p:cNvSpPr/>
          <p:nvPr/>
        </p:nvSpPr>
        <p:spPr>
          <a:xfrm>
            <a:off x="-77040" y="-92880"/>
            <a:ext cx="26215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5" name="Google Shape;17;p3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112;p21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37" name="Google Shape;113;p21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115;p22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1" name="Google Shape;21;p4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42" name="Google Shape;22;p4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4" name="Google Shape;29;p5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6" name="Google Shape;32;p6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47" name="Google Shape;33;p6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85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0" name="Google Shape;37;p7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51" name="Google Shape;38;p7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2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ient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3154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0280" y="1082040"/>
            <a:ext cx="6908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FFC8"/>
                </a:solidFill>
              </a:defRPr>
            </a:pPr>
            <a:r>
              <a:rPr lang="en-US" sz="4000" dirty="0">
                <a:solidFill>
                  <a:schemeClr val="bg2"/>
                </a:solidFill>
              </a:rPr>
              <a:t>Smart Soil Monitoring </a:t>
            </a:r>
          </a:p>
          <a:p>
            <a:pPr algn="ctr">
              <a:defRPr sz="4000" b="1">
                <a:solidFill>
                  <a:srgbClr val="C8FFC8"/>
                </a:solidFill>
              </a:defRPr>
            </a:pPr>
            <a:r>
              <a:rPr lang="en-US" sz="4000" dirty="0">
                <a:solidFill>
                  <a:schemeClr val="bg2"/>
                </a:solidFill>
              </a:rPr>
              <a:t>and Crop</a:t>
            </a:r>
          </a:p>
          <a:p>
            <a:pPr algn="ctr">
              <a:defRPr sz="4000" b="1">
                <a:solidFill>
                  <a:srgbClr val="C8FFC8"/>
                </a:solidFill>
              </a:defRPr>
            </a:pPr>
            <a:r>
              <a:rPr lang="en-US" sz="4000" dirty="0">
                <a:solidFill>
                  <a:schemeClr val="bg2"/>
                </a:solidFill>
              </a:rPr>
              <a:t> </a:t>
            </a:r>
            <a:r>
              <a:rPr lang="en-US" sz="4000">
                <a:solidFill>
                  <a:schemeClr val="bg2"/>
                </a:solidFill>
              </a:rPr>
              <a:t>Recommendation Device</a:t>
            </a:r>
          </a:p>
          <a:p>
            <a:pPr algn="ctr">
              <a:defRPr sz="4000" b="1">
                <a:solidFill>
                  <a:srgbClr val="C8FFC8"/>
                </a:solidFill>
              </a:defRPr>
            </a:pPr>
            <a:endParaRPr lang="en-IN" sz="4000" dirty="0">
              <a:solidFill>
                <a:schemeClr val="bg2"/>
              </a:solidFill>
            </a:endParaR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rPr lang="en-US" sz="2800" dirty="0">
                <a:solidFill>
                  <a:schemeClr val="bg2"/>
                </a:solidFill>
              </a:rPr>
              <a:t>(</a:t>
            </a:r>
            <a:r>
              <a:rPr sz="2800" dirty="0">
                <a:solidFill>
                  <a:schemeClr val="bg2"/>
                </a:solidFill>
              </a:rPr>
              <a:t>IoT + Machine Learning based Smart Agriculture</a:t>
            </a:r>
            <a:r>
              <a:rPr lang="en-US" sz="2800" dirty="0">
                <a:solidFill>
                  <a:schemeClr val="bg2"/>
                </a:solidFill>
              </a:rPr>
              <a:t>)</a:t>
            </a:r>
            <a:endParaRPr sz="2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AA69-9290-5185-103B-5D635269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0454CBE5-63EF-A3F4-F4B8-17A0EB72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790560"/>
            <a:ext cx="3895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tkinson Hyperlegible Next Medium"/>
                <a:ea typeface="Atkinson Hyperlegible Next Medium"/>
              </a:rPr>
              <a:t>Conclusions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E346DBAE-49D1-7644-F3F5-E65F886D363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23960" y="2162160"/>
            <a:ext cx="3895200" cy="1733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184;p32">
            <a:extLst>
              <a:ext uri="{FF2B5EF4-FFF2-40B4-BE49-F238E27FC236}">
                <a16:creationId xmlns:a16="http://schemas.microsoft.com/office/drawing/2014/main" id="{FEBE76F6-75E6-7EED-0269-DAC2ABC4273E}"/>
              </a:ext>
            </a:extLst>
          </p:cNvPr>
          <p:cNvSpPr/>
          <p:nvPr/>
        </p:nvSpPr>
        <p:spPr>
          <a:xfrm>
            <a:off x="723960" y="397188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A2D7B-9212-9DCB-68D8-7C9A30775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00"/>
            <a:ext cx="930656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5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3526920" y="395496"/>
            <a:ext cx="3861160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Functionality :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518520" y="1143270"/>
            <a:ext cx="4528200" cy="36047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Measure soil parameters: N, P, K, pH, moisture, temperature, humidity</a:t>
            </a:r>
          </a:p>
          <a:p>
            <a:pPr>
              <a:tabLst>
                <a:tab pos="0" algn="l"/>
              </a:tabLst>
            </a:pPr>
            <a:endParaRPr lang="en-US" sz="2000" b="1" u="none" strike="noStrike" dirty="0">
              <a:solidFill>
                <a:schemeClr val="dk1"/>
              </a:solidFill>
              <a:effectLst/>
              <a:uFillTx/>
              <a:latin typeface="Atkinson Hyperlegible Next SemiBold"/>
            </a:endParaRPr>
          </a:p>
          <a:p>
            <a:pPr>
              <a:tabLst>
                <a:tab pos="0" algn="l"/>
              </a:tabLst>
            </a:pPr>
            <a:endParaRPr lang="en-US" sz="2000" b="1" dirty="0">
              <a:solidFill>
                <a:schemeClr val="dk1"/>
              </a:solidFill>
              <a:latin typeface="Atkinson Hyperlegible Next SemiBold"/>
            </a:endParaRPr>
          </a:p>
          <a:p>
            <a:pPr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Recommends best suitable crop</a:t>
            </a:r>
          </a:p>
          <a:p>
            <a:pPr>
              <a:tabLst>
                <a:tab pos="0" algn="l"/>
              </a:tabLst>
            </a:pPr>
            <a:endParaRPr lang="en-US" sz="2000" b="1" u="none" strike="noStrike" dirty="0">
              <a:solidFill>
                <a:schemeClr val="dk1"/>
              </a:solidFill>
              <a:effectLst/>
              <a:uFillTx/>
              <a:latin typeface="Atkinson Hyperlegible Next SemiBold"/>
            </a:endParaRPr>
          </a:p>
          <a:p>
            <a:pPr>
              <a:tabLst>
                <a:tab pos="0" algn="l"/>
              </a:tabLst>
            </a:pPr>
            <a:endParaRPr lang="en-US" sz="2000" b="1" dirty="0">
              <a:solidFill>
                <a:schemeClr val="dk1"/>
              </a:solidFill>
              <a:latin typeface="Atkinson Hyperlegible Next SemiBold"/>
            </a:endParaRPr>
          </a:p>
          <a:p>
            <a:pPr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Displays results on LCD/OLED screen</a:t>
            </a:r>
          </a:p>
          <a:p>
            <a:pPr>
              <a:tabLst>
                <a:tab pos="0" algn="l"/>
              </a:tabLst>
            </a:pPr>
            <a:endParaRPr lang="en-US" sz="2000" b="1" u="none" strike="noStrike" dirty="0">
              <a:solidFill>
                <a:schemeClr val="dk1"/>
              </a:solidFill>
              <a:effectLst/>
              <a:uFillTx/>
              <a:latin typeface="Atkinson Hyperlegible Next SemiBold"/>
            </a:endParaRPr>
          </a:p>
          <a:p>
            <a:pPr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Works as a standalone device (no internet required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2" name="image6984d897bc3b0" descr="image6984d897bc3b7"/>
          <p:cNvPicPr/>
          <p:nvPr/>
        </p:nvPicPr>
        <p:blipFill>
          <a:blip r:embed="rId2"/>
          <a:stretch/>
        </p:blipFill>
        <p:spPr>
          <a:xfrm>
            <a:off x="88441" y="544830"/>
            <a:ext cx="3334958" cy="405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3768" y="-444747"/>
            <a:ext cx="2789423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Software: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83279" y="1190274"/>
            <a:ext cx="4751840" cy="258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Arduino IDE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(ESP32 programming)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Embedded C / C++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Serial communication (RS485)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Sensor data acquisition 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&amp; calibration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Display interface (I2C)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7200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2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Rule-based decision logic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134;p27"/>
          <p:cNvSpPr/>
          <p:nvPr/>
        </p:nvSpPr>
        <p:spPr>
          <a:xfrm>
            <a:off x="714240" y="4210200"/>
            <a:ext cx="142848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135;p27"/>
          <p:cNvSpPr/>
          <p:nvPr/>
        </p:nvSpPr>
        <p:spPr>
          <a:xfrm>
            <a:off x="3104063" y="3917046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AED0A-9C14-EA87-2CB4-DBE88C219ABA}"/>
              </a:ext>
            </a:extLst>
          </p:cNvPr>
          <p:cNvSpPr txBox="1"/>
          <p:nvPr/>
        </p:nvSpPr>
        <p:spPr>
          <a:xfrm>
            <a:off x="-1383" y="-17850"/>
            <a:ext cx="484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dk1"/>
                </a:solidFill>
                <a:latin typeface="Atkinson Hyperlegible Next SemiBold"/>
              </a:rPr>
              <a:t>Components: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16E26-3441-1BF7-BE5E-F319DAA8A14E}"/>
              </a:ext>
            </a:extLst>
          </p:cNvPr>
          <p:cNvSpPr txBox="1"/>
          <p:nvPr/>
        </p:nvSpPr>
        <p:spPr>
          <a:xfrm>
            <a:off x="3179920" y="-211812"/>
            <a:ext cx="47518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Albert Sans"/>
                <a:ea typeface="Albert Sans"/>
              </a:rPr>
              <a:t>Hardware: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ESP32 Microcontroller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NPK Soil Sensor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Soil pH Sensor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Capacitive Soil Moisture Sensor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DHT11 / DHT22 (Temperature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 &amp; Humidity)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dirty="0">
              <a:solidFill>
                <a:schemeClr val="dk1"/>
              </a:solidFill>
              <a:latin typeface="Albert Sans"/>
              <a:ea typeface="Albert Sa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MAX485 RS485 Converter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OLED / 16×2 LCD Display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lbert Sans"/>
                <a:ea typeface="Albert Sans"/>
              </a:rPr>
              <a:t>Power Supply / Battery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Albert Sans"/>
              <a:ea typeface="Albert Sans"/>
            </a:endParaRPr>
          </a:p>
        </p:txBody>
      </p:sp>
      <p:sp>
        <p:nvSpPr>
          <p:cNvPr id="8" name="Google Shape;347;p41" title="view-city-with-apartment-buildings-green-vegetation (2).jpg">
            <a:extLst>
              <a:ext uri="{FF2B5EF4-FFF2-40B4-BE49-F238E27FC236}">
                <a16:creationId xmlns:a16="http://schemas.microsoft.com/office/drawing/2014/main" id="{76ADB17E-4FB8-F891-FE00-34B4EFD122AF}"/>
              </a:ext>
            </a:extLst>
          </p:cNvPr>
          <p:cNvSpPr/>
          <p:nvPr/>
        </p:nvSpPr>
        <p:spPr>
          <a:xfrm flipH="1">
            <a:off x="6766560" y="-91440"/>
            <a:ext cx="2550160" cy="5234760"/>
          </a:xfrm>
          <a:prstGeom prst="round1Rect">
            <a:avLst>
              <a:gd name="adj" fmla="val 5000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490720" y="175741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Conclusion: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72000" y="86880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Developed a low-cost smart soil analysis system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b="1" dirty="0">
              <a:solidFill>
                <a:schemeClr val="dk1"/>
              </a:solidFill>
              <a:latin typeface="Albert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Provides accurate crop recommendation             </a:t>
            </a:r>
            <a:endParaRPr lang="en-US" b="1" dirty="0">
              <a:solidFill>
                <a:schemeClr val="dk1"/>
              </a:solidFill>
              <a:latin typeface="Albert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 </a:t>
            </a:r>
            <a:endParaRPr lang="en-US" b="1" dirty="0">
              <a:solidFill>
                <a:schemeClr val="dk1"/>
              </a:solidFill>
              <a:latin typeface="Albert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Portable, fast, and easy to use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b="1" u="none" strike="noStrike" dirty="0">
              <a:solidFill>
                <a:schemeClr val="dk1"/>
              </a:solidFill>
              <a:effectLst/>
              <a:uFillTx/>
              <a:latin typeface="Albert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lbert Sans"/>
              </a:rPr>
              <a:t>Suitable for real-time agricultural applications</a:t>
            </a:r>
            <a:endParaRPr lang="en-US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BB9FD-830E-417F-D8AC-6EFC519E4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7131"/>
            <a:ext cx="4399280" cy="4562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9E49-260D-305B-EC5A-D1C58E3D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ient_bg.jpg">
            <a:extLst>
              <a:ext uri="{FF2B5EF4-FFF2-40B4-BE49-F238E27FC236}">
                <a16:creationId xmlns:a16="http://schemas.microsoft.com/office/drawing/2014/main" id="{E96145F8-146C-39A5-F730-FC739D02A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315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6D96F4-DB01-7084-04F3-C0C80208787E}"/>
              </a:ext>
            </a:extLst>
          </p:cNvPr>
          <p:cNvSpPr txBox="1"/>
          <p:nvPr/>
        </p:nvSpPr>
        <p:spPr>
          <a:xfrm>
            <a:off x="787400" y="929640"/>
            <a:ext cx="69080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8FFC8"/>
                </a:solidFill>
              </a:defRPr>
            </a:pPr>
            <a:r>
              <a:rPr lang="en-US" sz="8000" dirty="0">
                <a:solidFill>
                  <a:schemeClr val="tx2"/>
                </a:solidFill>
              </a:rPr>
              <a:t>Thank </a:t>
            </a:r>
          </a:p>
          <a:p>
            <a:pPr algn="ctr">
              <a:defRPr sz="4000" b="1">
                <a:solidFill>
                  <a:srgbClr val="C8FFC8"/>
                </a:solidFill>
              </a:defRPr>
            </a:pPr>
            <a:r>
              <a:rPr lang="en-US" sz="8000" dirty="0">
                <a:solidFill>
                  <a:schemeClr val="tx2"/>
                </a:solidFill>
              </a:rPr>
              <a:t>You!</a:t>
            </a:r>
            <a:endParaRPr lang="en-IN" sz="8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753224"/>
      </p:ext>
    </p:extLst>
  </p:cSld>
  <p:clrMapOvr>
    <a:masterClrMapping/>
  </p:clrMapOvr>
</p:sld>
</file>

<file path=ppt/theme/theme1.xml><?xml version="1.0" encoding="utf-8"?>
<a:theme xmlns:a="http://schemas.openxmlformats.org/drawingml/2006/main" name="Multipurpose Business Template">
  <a:themeElements>
    <a:clrScheme name="Simple Light">
      <a:dk1>
        <a:srgbClr val="BFCE84"/>
      </a:dk1>
      <a:lt1>
        <a:srgbClr val="0E2A22"/>
      </a:lt1>
      <a:dk2>
        <a:srgbClr val="FFF9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FCE8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158</Words>
  <Application>Microsoft Office PowerPoint</Application>
  <PresentationFormat>On-screen Show (16:9)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Albert Sans</vt:lpstr>
      <vt:lpstr>Arial</vt:lpstr>
      <vt:lpstr>Atkinson Hyperlegible Next Medium</vt:lpstr>
      <vt:lpstr>Atkinson Hyperlegible Next SemiBold</vt:lpstr>
      <vt:lpstr>Calibri</vt:lpstr>
      <vt:lpstr>OpenSymbol</vt:lpstr>
      <vt:lpstr>Symbol</vt:lpstr>
      <vt:lpstr>Wingdings</vt:lpstr>
      <vt:lpstr>Multipurpose Business Template</vt:lpstr>
      <vt:lpstr>Slidesgo Final Pages</vt:lpstr>
      <vt:lpstr>PowerPoint Presentation</vt:lpstr>
      <vt:lpstr>Conclusions</vt:lpstr>
      <vt:lpstr>PowerPoint Presentation</vt:lpstr>
      <vt:lpstr>Software: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pranavgowthamruthvik.muddala@gmail.com</cp:lastModifiedBy>
  <cp:revision>1</cp:revision>
  <dcterms:modified xsi:type="dcterms:W3CDTF">2026-02-05T18:47:04Z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2026-02-05T17:51:08Z</dcterms:created>
  <dc:creator>Unknown Creator</dc:creator>
  <dc:description/>
  <dc:language>en-US</dc:language>
  <cp:lastModifiedBy>Unknown Creator</cp:lastModifiedBy>
  <dcterms:modified xsi:type="dcterms:W3CDTF">2026-02-05T17:51:08Z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